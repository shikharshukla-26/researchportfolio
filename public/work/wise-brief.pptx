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8503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NORMAN GROUP TEMPLATE  ·  APPLIED EVALUATION  ·  BRIEF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95528" y="8229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Evaluation — Brief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53619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C9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Wise.com — international transfer and signup, evaluated for a first-time, India-based visitor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Shikhar Shukla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337560" y="21488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3337560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Sep 2026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21488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Wise.com (Personal)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366760" y="214884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3957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rate, delivery, eligibility, signup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2960" y="2834640"/>
            <a:ext cx="10332720" cy="0"/>
          </a:xfrm>
          <a:prstGeom prst="line">
            <a:avLst/>
          </a:prstGeom>
          <a:noFill/>
          <a:ln w="9525">
            <a:solidFill>
              <a:srgbClr val="4A3A3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108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 RISK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429000"/>
            <a:ext cx="10332720" cy="1234440"/>
          </a:xfrm>
          <a:prstGeom prst="roundRect">
            <a:avLst>
              <a:gd name="adj" fmla="val 5185"/>
            </a:avLst>
          </a:prstGeom>
          <a:solidFill>
            <a:srgbClr val="3A2E28"/>
          </a:solidFill>
          <a:ln w="12700">
            <a:solidFill>
              <a:srgbClr val="B850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3429000"/>
            <a:ext cx="9875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0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discoverable, but an India-based visitor cannot determine whether a personal account is available to them. Selecting “Personal” and “India” during signup returned the form to its previous screen with no message — creating avoidable uncertainty at the highest-intent moment in the funnel.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48920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241C18"/>
          </a:solidFill>
          <a:ln w="12700">
            <a:solidFill>
              <a:srgbClr val="A6402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4892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· High
</a:t>
            </a:r>
            <a:pPr indent="0" marL="0">
              <a:buNone/>
            </a:pPr>
            <a:r>
              <a:rPr lang="en-US" sz="1200" dirty="0">
                <a:solidFill>
                  <a:srgbClr val="D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signup loop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79392" y="48920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241C18"/>
          </a:solidFill>
          <a:ln w="12700">
            <a:solidFill>
              <a:srgbClr val="A6402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16552" y="4892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6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· High
</a:t>
            </a:r>
            <a:pPr indent="0" marL="0">
              <a:buNone/>
            </a:pPr>
            <a:r>
              <a:rPr lang="en-US" sz="1200" dirty="0">
                <a:solidFill>
                  <a:srgbClr val="D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not surfaced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35824" y="4892040"/>
            <a:ext cx="3291840" cy="566928"/>
          </a:xfrm>
          <a:prstGeom prst="roundRect">
            <a:avLst>
              <a:gd name="adj" fmla="val 9677"/>
            </a:avLst>
          </a:prstGeom>
          <a:solidFill>
            <a:srgbClr val="241C18"/>
          </a:solidFill>
          <a:ln w="12700">
            <a:solidFill>
              <a:srgbClr val="C98A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72984" y="48920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F3/F4 · Med
</a:t>
            </a:r>
            <a:pPr indent="0" marL="0">
              <a:buNone/>
            </a:pPr>
            <a:r>
              <a:rPr lang="en-US" sz="1200" dirty="0">
                <a:solidFill>
                  <a:srgbClr val="D9CB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rate/time-zone context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9893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9C8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single-evaluator review applying Jakob Nielsen's 10 usability heuristics — not commissioned by or affiliated with Wise. This brief summarizes a full 16-slide evaluation; see the companion deck for all 10 heuristics and full before/after mockups.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 findings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2103120"/>
        </p:xfrm>
        <a:graphic>
          <a:graphicData uri="http://schemas.openxmlformats.org/drawingml/2006/table">
            <a:tbl>
              <a:tblPr/>
              <a:tblGrid>
                <a:gridCol w="914400"/>
                <a:gridCol w="3657600"/>
                <a:gridCol w="3703320"/>
                <a:gridCol w="2011680"/>
                <a:gridCol w="914400"/>
              </a:tblGrid>
              <a:tr h="5257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1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1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risk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1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1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11D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 + India signup loops silently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Reads as a broken product, not a policy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Behavior: yes · reason: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eligibility not surfaced pre-signup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must search externally to find out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Behavior: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A640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F3/F4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reference rate; arrival has no time zone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Visitor leaves the page to verify both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B6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Behavior: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8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DC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3886200"/>
            <a:ext cx="11201400" cy="1417320"/>
          </a:xfrm>
          <a:prstGeom prst="roundRect">
            <a:avLst>
              <a:gd name="adj" fmla="val 3871"/>
            </a:avLst>
          </a:prstGeom>
          <a:solidFill>
            <a:srgbClr val="FCEFD8"/>
          </a:solidFill>
          <a:ln w="12700">
            <a:solidFill>
              <a:srgbClr val="E3C68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3886200"/>
            <a:ext cx="107442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8A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confirmed vs. what needs verification
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signup form silently fails for Personal + India — screenshotted, not inferred.  </a:t>
            </a:r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confirmed: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reason (Wise doesn't serve personal accounts to India) is sourced from an external search, not Wise — confirm before naming it in any live message.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54864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 AT A GLANCE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57790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1–2. Homepage → pricing
</a:t>
            </a:r>
            <a:pPr indent="0" marL="0">
              <a:buNone/>
            </a:pPr>
            <a:r>
              <a:rPr lang="en-US" sz="1150" b="1" dirty="0">
                <a:solidFill>
                  <a:srgbClr val="6E8C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Succeeded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57790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3–4. Calculator &amp; fees
</a:t>
            </a:r>
            <a:pPr indent="0" marL="0">
              <a:buNone/>
            </a:pPr>
            <a:r>
              <a:rPr lang="en-US" sz="115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5897880" y="57790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Eligibility search
</a:t>
            </a:r>
            <a:pPr indent="0" marL="0">
              <a:buNone/>
            </a:pPr>
            <a:r>
              <a:rPr lang="en-US" sz="1150" b="1" dirty="0">
                <a:solidFill>
                  <a:srgbClr val="A6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595360" y="577900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Account creation
</a:t>
            </a:r>
            <a:pPr indent="0" marL="0">
              <a:buNone/>
            </a:pPr>
            <a:r>
              <a:rPr lang="en-US" sz="1150" b="1" dirty="0">
                <a:solidFill>
                  <a:srgbClr val="A640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WISE.COM — HEURISTIC EVALUATION, BRIEF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CHANGE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recommendations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11201400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54480"/>
            <a:ext cx="685800" cy="1417320"/>
          </a:xfrm>
          <a:prstGeom prst="roundRect">
            <a:avLst>
              <a:gd name="adj" fmla="val 9333"/>
            </a:avLst>
          </a:prstGeom>
          <a:solidFill>
            <a:srgbClr val="B850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02920" y="1554480"/>
            <a:ext cx="685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682496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silent signup reset with an explicit restriction message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01168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reason in place, with a route to any available alternative, the moment the blocked combination is detected.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51460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Confirm the specific reason with Wise before naming India in live copy.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172968"/>
            <a:ext cx="112014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172968"/>
            <a:ext cx="685800" cy="1188720"/>
          </a:xfrm>
          <a:prstGeom prst="roundRect">
            <a:avLst>
              <a:gd name="adj" fmla="val 9333"/>
            </a:avLst>
          </a:prstGeom>
          <a:solidFill>
            <a:srgbClr val="B850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02920" y="3172968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300984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country eligibility before signup begins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3016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 short, country-aware eligibility line on the pricing and send-money pages once the country is known.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562856"/>
            <a:ext cx="11201400" cy="118872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562856"/>
            <a:ext cx="685800" cy="1188720"/>
          </a:xfrm>
          <a:prstGeom prst="roundRect">
            <a:avLst>
              <a:gd name="adj" fmla="val 9333"/>
            </a:avLst>
          </a:prstGeom>
          <a:solidFill>
            <a:srgbClr val="B8503D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2920" y="4562856"/>
            <a:ext cx="685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690872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calculator enough context to be interpreted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502005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mid-market reference rate beside the quoted rate, and an explicit time zone on the arrival estimate.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WISE.COM — HEURISTIC EVALUATION, BRIEF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SHOW, NOT JUST TELL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fixes, at a glance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207008"/>
            <a:ext cx="10789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Mockups only — not live Wise screens. Full before/after pairs are in the companion deck (slides 13–15).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3520440" cy="3340425"/>
          </a:xfrm>
          <a:prstGeom prst="roundRect">
            <a:avLst>
              <a:gd name="adj" fmla="val 2190"/>
            </a:avLst>
          </a:prstGeom>
          <a:solidFill>
            <a:srgbClr val="FFFFFF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A6402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1</a:t>
            </a:r>
            <a:endParaRPr lang="en-US" sz="1000" dirty="0"/>
          </a:p>
        </p:txBody>
      </p:sp>
      <p:pic>
        <p:nvPicPr>
          <p:cNvPr id="8" name="Image 0" descr="/home/claude/build/media/mockup_f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94560"/>
            <a:ext cx="3246120" cy="202368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4327977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inline message replaces the silent signup reset.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691640"/>
            <a:ext cx="3520440" cy="3396243"/>
          </a:xfrm>
          <a:prstGeom prst="roundRect">
            <a:avLst>
              <a:gd name="adj" fmla="val 2154"/>
            </a:avLst>
          </a:prstGeom>
          <a:solidFill>
            <a:srgbClr val="FFFFFF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34840" y="18288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3E7CA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43484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2</a:t>
            </a:r>
            <a:endParaRPr lang="en-US" sz="1000" dirty="0"/>
          </a:p>
        </p:txBody>
      </p:sp>
      <p:pic>
        <p:nvPicPr>
          <p:cNvPr id="13" name="Image 1" descr="/home/claude/build/media/mockup_eligibi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2194560"/>
            <a:ext cx="3246120" cy="207950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34840" y="4383795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is stated on the send-money page, before signup.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92440" y="1691640"/>
            <a:ext cx="3520440" cy="3355299"/>
          </a:xfrm>
          <a:prstGeom prst="roundRect">
            <a:avLst>
              <a:gd name="adj" fmla="val 2180"/>
            </a:avLst>
          </a:prstGeom>
          <a:solidFill>
            <a:srgbClr val="FFFFFF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0" y="182880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6E8C79"/>
          </a:solidFill>
          <a:ln/>
        </p:spPr>
      </p:sp>
      <p:sp>
        <p:nvSpPr>
          <p:cNvPr id="17" name="Text 13"/>
          <p:cNvSpPr txBox="1"/>
          <p:nvPr/>
        </p:nvSpPr>
        <p:spPr>
          <a:xfrm>
            <a:off x="8229600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3</a:t>
            </a:r>
            <a:endParaRPr lang="en-US" sz="1000" dirty="0"/>
          </a:p>
        </p:txBody>
      </p:sp>
      <p:pic>
        <p:nvPicPr>
          <p:cNvPr id="18" name="Image 2" descr="/home/claude/build/media/mockup_calcula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194560"/>
            <a:ext cx="3246120" cy="203856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229600" y="4342851"/>
            <a:ext cx="3246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mid-market rate and explicit time zone are added to the calculator.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502920" y="5623560"/>
            <a:ext cx="11201400" cy="502920"/>
          </a:xfrm>
          <a:prstGeom prst="roundRect">
            <a:avLst>
              <a:gd name="adj" fmla="val 10909"/>
            </a:avLst>
          </a:prstGeom>
          <a:solidFill>
            <a:srgbClr val="FCEFD8"/>
          </a:solidFill>
          <a:ln w="12700">
            <a:solidFill>
              <a:srgbClr val="E3C68F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731520" y="562356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3B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Before shipping:  </a:t>
            </a:r>
            <a:pPr indent="0" marL="0">
              <a:buNone/>
            </a:pPr>
            <a:r>
              <a:rPr lang="en-US" sz="1100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wording above is illustrative and needs product/compliance confirmation — especially the reason named in Rec 1 and Rec 2.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WISE.COM — HEURISTIC EVALUATION, BRIEF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5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THIS WAS DONE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21792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A3B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and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12014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74650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evidence base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7568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first-time-visitor walkthrough, 16 screenshots, six decision points — spanning homepage, pricing, eligibility search, and signup.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112014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971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98094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heuristics applied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600200" y="331012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Jakob Nielsen's 10 usability heuristics, each with one issue, one piece of evidence, one recommendation. Full detail in the companion deck.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112014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21538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evaluator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54456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walkthrough, not participant research — findings are hypotheses to validate, not measured usability rates.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201400" cy="109728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 w="12700">
            <a:solidFill>
              <a:srgbClr val="E8DCC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5440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DC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449824"/>
            <a:ext cx="9784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2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 proposed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600200" y="5779008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Moderated sessions with 5–8 first-time, India-based visitors; measure task completion, external tab-switches, and signup completion.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WISE.COM — HEURISTIC EVALUATION, BRIEF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21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E8C79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95528" y="1170432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issues to act on first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B850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H9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212140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message when signup fails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4048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+ India returns silently — the single highest-impact fix.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B850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0175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H6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99008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isn't recognizable in context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327355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visitor must recall and search for information the product already has.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3886200"/>
            <a:ext cx="868680" cy="548640"/>
          </a:xfrm>
          <a:prstGeom prst="roundRect">
            <a:avLst>
              <a:gd name="adj" fmla="val 10000"/>
            </a:avLst>
          </a:prstGeom>
          <a:solidFill>
            <a:srgbClr val="B8503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8862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H1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3858768"/>
            <a:ext cx="9144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status during the signup loop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874520" y="414223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BB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feedback after a blocked selection reads as a broken product, not a policy.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892040"/>
            <a:ext cx="10332720" cy="0"/>
          </a:xfrm>
          <a:prstGeom prst="line">
            <a:avLst/>
          </a:prstGeom>
          <a:noFill/>
          <a:ln w="12700">
            <a:solidFill>
              <a:srgbClr val="4A3A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" y="5047488"/>
            <a:ext cx="10332720" cy="512064"/>
          </a:xfrm>
          <a:prstGeom prst="roundRect">
            <a:avLst>
              <a:gd name="adj" fmla="val 8929"/>
            </a:avLst>
          </a:prstGeom>
          <a:solidFill>
            <a:srgbClr val="3A2E28"/>
          </a:solidFill>
          <a:ln w="12700">
            <a:solidFill>
              <a:srgbClr val="B850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047488"/>
            <a:ext cx="99669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 </a:t>
            </a:r>
            <a:pPr indent="0" marL="0">
              <a:buNone/>
            </a:pPr>
            <a:r>
              <a:rPr lang="en-US" sz="1200" dirty="0">
                <a:solidFill>
                  <a:srgbClr val="E3D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10 heuristics, full before/after mockups, and the complete walkthrough log are in the companion 16-slide deck.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7150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9C8D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Template: Nielsen Norman Group's Heuristic Evaluation Workbook (nngroup.com/articles/ten-usability-heuristics). Independent review, not commissioned by Wise.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18585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2026-09-18T08:02:58Z</dcterms:created>
  <dcterms:modified xsi:type="dcterms:W3CDTF">2026-09-18T08:02:58Z</dcterms:modified>
</cp:coreProperties>
</file>