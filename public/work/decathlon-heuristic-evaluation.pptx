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1417320"/>
            <a:ext cx="2651760" cy="2651760"/>
          </a:xfrm>
          <a:prstGeom prst="ellipse">
            <a:avLst/>
          </a:prstGeom>
          <a:ln w="19050">
            <a:solidFill>
              <a:srgbClr val="E0A02B"/>
            </a:solidFill>
            <a:prstDash val="solid"/>
          </a:ln>
        </p:spPr>
      </p:sp>
      <p:pic>
        <p:nvPicPr>
          <p:cNvPr id="3" name="Image 0" descr="/home/claude/work/assets/icon_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CASE STUDY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19659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 Cycle 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Decathlon.in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Evaluation of the Online Purchase Journey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57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04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Shukla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5257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5504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5257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5504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(India)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5257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5504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 cycle,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finish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Jakob Nielsen's 10 Usability Heuristics — Nielsen Norman Group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100584" cy="10058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508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cycle for exercise, start to finish: home page to payment confirmation, the way an ordinary shopper would.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77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step by step against seven questions on discoverability, pricing, cart control, policy clarity, and checkout feedback; each friction point mapped to the Nielsen heuristic it violates.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100584" cy="10058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246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heuristics were the original focus. A seventh, Consistency and Standards, surfaced on its own and earned a place too.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417320"/>
            <a:ext cx="4983480" cy="3429000"/>
          </a:xfrm>
          <a:prstGeom prst="roundRect">
            <a:avLst>
              <a:gd name="adj" fmla="val 2400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31152" y="1600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GUIDING QUESTIONS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931152" y="1984248"/>
            <a:ext cx="44714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Compare products without opening many tabs?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delivery charges shown early enough?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taxes and fees transparent?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Can quantity be changed or an item removed easily?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Are return and warranty conditions understandable?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Is “Buy now” / “Add to cart” visually clear?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Does checkout show progress?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90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5773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0A0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7492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79676" y="5001768"/>
            <a:ext cx="146304" cy="146304"/>
          </a:xfrm>
          <a:prstGeom prst="ellipse">
            <a:avLst/>
          </a:prstGeom>
          <a:solidFill>
            <a:srgbClr val="E0A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5980" y="5463540"/>
            <a:ext cx="32004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46020" y="5074920"/>
            <a:ext cx="1577340" cy="77724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46020" y="507492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5463540"/>
            <a:ext cx="32004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5074920"/>
            <a:ext cx="15773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0A0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507492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4436" y="5001768"/>
            <a:ext cx="146304" cy="146304"/>
          </a:xfrm>
          <a:prstGeom prst="ellipse">
            <a:avLst/>
          </a:prstGeom>
          <a:solidFill>
            <a:srgbClr val="E0A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20740" y="5463540"/>
            <a:ext cx="32004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40780" y="5074920"/>
            <a:ext cx="15773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0A0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40780" y="507492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71816" y="5001768"/>
            <a:ext cx="146304" cy="146304"/>
          </a:xfrm>
          <a:prstGeom prst="ellipse">
            <a:avLst/>
          </a:prstGeom>
          <a:solidFill>
            <a:srgbClr val="E0A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5463540"/>
            <a:ext cx="32004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38160" y="5074920"/>
            <a:ext cx="15773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0A0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38160" y="507492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69196" y="5001768"/>
            <a:ext cx="146304" cy="146304"/>
          </a:xfrm>
          <a:prstGeom prst="ellipse">
            <a:avLst/>
          </a:prstGeom>
          <a:solidFill>
            <a:srgbClr val="E0A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15500" y="5463540"/>
            <a:ext cx="32004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35540" y="5074920"/>
            <a:ext cx="15773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0A0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35540" y="5074920"/>
            <a:ext cx="157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466576" y="5001768"/>
            <a:ext cx="146304" cy="146304"/>
          </a:xfrm>
          <a:prstGeom prst="ellipse">
            <a:avLst/>
          </a:prstGeom>
          <a:solidFill>
            <a:srgbClr val="E0A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6016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Friction found during the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E0A02B"/>
          </a:solidFill>
          <a:ln/>
        </p:spPr>
      </p:sp>
      <p:pic>
        <p:nvPicPr>
          <p:cNvPr id="3" name="Image 0" descr="/home/claude/work/assets/icon_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74066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HIGHEST-IMPACT FINDING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 can't actually be returned.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514600"/>
            <a:ext cx="5577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the return policy's eligibility table — reachable only via a footer link on the product page, several scrolls down — is the line that mattered most before checkout: Bulky/Technical Equipment, the category covering cycles, is Not Eligible for Return or Refund. Only a Replacement within 30 days is available; even a size or colour exchange is off the table.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the product page, cart, or checkout discloses this. A shopper who assumes the standard 30-day return shown elsewhere on the same page learns otherwise only by going looking for it — usually after paying.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" y="525780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1E2C48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57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kind of gap that turns into a return dispute, a support ticket, or a public complaint — discovered after the sale, not before it.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IMPLICATED   </a:t>
            </a:r>
            <a:pPr indent="0" marL="0">
              <a:buNone/>
            </a:pPr>
            <a:r>
              <a:rPr lang="en-US" sz="11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Rather Than Recall  ·  Match Between System and the Real World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92824" y="2706624"/>
            <a:ext cx="5056632" cy="2842227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11" name="Image 1" descr="/home/claude/work/assets/return_table_annot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88920"/>
            <a:ext cx="4892040" cy="2677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2478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Return-eligibility table — Bulky/Technical Equipment row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7233B"/>
          </a:solidFill>
          <a:ln/>
        </p:spPr>
      </p:sp>
      <p:pic>
        <p:nvPicPr>
          <p:cNvPr id="3" name="Image 0" descr="/home/claude/work/assets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36192" y="731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of System Status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43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people informed about what's happening — with clear, fast feedback after every action.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020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709928" y="20025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Payment step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350008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“Proceed to pay” triggers a 15–20 second wait with no spinner, progress bar, or message — long enough that the tester reconsidered the ₹6,999 purchase mid-wait.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895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709928" y="387705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Delivery step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80560" y="3886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4224528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progress bar does exist, but its fill colour barely contrasts with the white background — the one control built to show checkout progress is easy to miss entirely.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30314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progress bar — low contrast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81344" y="2513458"/>
            <a:ext cx="5559552" cy="628914"/>
          </a:xfrm>
          <a:prstGeom prst="roundRect">
            <a:avLst>
              <a:gd name="adj" fmla="val 11631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23" name="Image 1" descr="/home/claude/work/assets/progress_bar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95754"/>
            <a:ext cx="5394960" cy="46432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263640" y="326124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 — after the 15–20s wait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181344" y="3471556"/>
            <a:ext cx="5559552" cy="1695946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26" name="Image 2" descr="/home/claude/work/assets/payment_page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53852"/>
            <a:ext cx="5394960" cy="153135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9525">
            <a:solidFill>
              <a:srgbClr val="E0A02B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loading indicator (spinner + reassuring microcopy) for the payment redirect, and restyle the progress bar with real contrast against its background.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7233B"/>
          </a:solidFill>
          <a:ln/>
        </p:spPr>
      </p:sp>
      <p:pic>
        <p:nvPicPr>
          <p:cNvPr id="3" name="Image 0" descr="/home/claude/work/assets/icon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36192" y="731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Between System and the Real World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43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user's language. Match real-world conventions instead of internal logic or jargon.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020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709928" y="20025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category pages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350008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opens with a full-width discount banner before any products, and category pages repeat the pattern. Real-world shopping runs the other way: item first, then price, then whatever discount applies.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895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709928" y="387705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Delivery step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80560" y="3886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4224528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charge is labelled “Convenience fee,” not “Delivery fee” — and it isn't shown until the delivery step, three clicks into checkout.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192240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— offers before products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50024" y="2096142"/>
            <a:ext cx="3822192" cy="1449764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23" name="Image 1" descr="/home/claude/work/assets/homepage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178438"/>
            <a:ext cx="3657600" cy="128517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32320" y="360991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 — “Convenience fee”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50024" y="3783650"/>
            <a:ext cx="3822192" cy="1764592"/>
          </a:xfrm>
          <a:prstGeom prst="roundRect">
            <a:avLst>
              <a:gd name="adj" fmla="val 4146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26" name="Image 2" descr="/home/claude/work/assets/fee_close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865946"/>
            <a:ext cx="3657600" cy="16000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9525">
            <a:solidFill>
              <a:srgbClr val="E0A02B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category templates with products, not promos. Rename “Convenience fee” to a plain “Delivery fee” and surface it as early as the cart page.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7233B"/>
          </a:solidFill>
          <a:ln/>
        </p:spPr>
      </p:sp>
      <p:pic>
        <p:nvPicPr>
          <p:cNvPr id="3" name="Image 0" descr="/home/claude/work/assets/icon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36192" y="731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and Standards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43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things should look, behave, and mean the same — and match the patterns users already know.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9344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original checklist — this one surfaced on its own during testing.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020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709928" y="20025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&amp; detail pages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8056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350008"/>
            <a:ext cx="5084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way to compare two products side by side. Comparing the BTWIN against the Rockrider meant a second browser tab — the workaround Jakob's Law predicts.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621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709928" y="36027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480560" y="36118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A02B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0560" y="3611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3950208"/>
            <a:ext cx="50840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to cart” permanently swaps to “Go to cart.” There's no way to add a second unit of the same item without refreshing the page — which then reverts the button and loses that state again.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9808" y="4855464"/>
            <a:ext cx="5084064" cy="0"/>
          </a:xfrm>
          <a:prstGeom prst="line">
            <a:avLst/>
          </a:prstGeom>
          <a:noFill/>
          <a:ln w="9525">
            <a:solidFill>
              <a:srgbClr val="E3E5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910328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 </a:t>
            </a:r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blocked re-add is a shopper who either gives up on the second unit or opens a second tab — both cost the sale its momentum.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1992445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tabs, two prices — no built-in way to compare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81344" y="2221045"/>
            <a:ext cx="5559552" cy="3202295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26" name="Image 1" descr="/home/claude/work/assets/two_tabs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03341"/>
            <a:ext cx="5394960" cy="303770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9525">
            <a:solidFill>
              <a:srgbClr val="E0A02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lightweight compare tray (2–3 items). Replace the one-way button swap with a persistent quantity stepper, the way the cart page itself already works.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7233B"/>
          </a:solidFill>
          <a:ln/>
        </p:spPr>
      </p:sp>
      <p:pic>
        <p:nvPicPr>
          <p:cNvPr id="3" name="Image 0" descr="/home/claude/work/assets/icon_door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36192" y="731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Control and Freedom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43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move freely, undo mistakes, and exit an unwanted path without extra friction.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706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709928" y="26883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Delivery step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2697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697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3035808"/>
            <a:ext cx="5084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delivery availability and cost requires being logged in with a saved address — there's no lightweight, pincode-only way to preview it earlier, unlike every other browsing step on the site. And there's no “Buy Now” either: every purchase, however certain the shopper is, is routed through Add to Cart → Cart → Delivery → Payment, with no shortcut.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27788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step — tied to a saved account address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1344" y="2506480"/>
            <a:ext cx="5559552" cy="2631423"/>
          </a:xfrm>
          <a:prstGeom prst="roundRect">
            <a:avLst>
              <a:gd name="adj" fmla="val 2780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17" name="Image 1" descr="/home/claude/work/assets/delivery_addres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588776"/>
            <a:ext cx="5394960" cy="246683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9525">
            <a:solidFill>
              <a:srgbClr val="E0A02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shoppers check delivery availability and fees with just a pincode before requiring login. Consider a “Buy Now” fast path for single-item purchases.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7233B"/>
          </a:solidFill>
          <a:ln/>
        </p:spPr>
      </p:sp>
      <p:pic>
        <p:nvPicPr>
          <p:cNvPr id="3" name="Image 0" descr="/home/claude/work/assets/icon_shield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36192" y="731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Prevention &amp; Recovery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43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problems before they happen — and if one still slips through, say so plainly rather than failing silently.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9344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finding, two heuristics: Error Prevention, and Help Users Recognize, Diagnose &amp; Recover from Errors.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2400300"/>
            <a:ext cx="5486400" cy="2514600"/>
          </a:xfrm>
          <a:prstGeom prst="roundRect">
            <a:avLst>
              <a:gd name="adj" fmla="val 3273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5466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709928" y="252831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page — quantity control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80560" y="25374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A02B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25374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875788"/>
            <a:ext cx="50840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“−” control behaves two ways: with two units it decrements normally; at exactly one unit, it does nothing — no message, no disabled state, no explanation. The only way to remove that item is a separate trash icon, found only after several dead clicks.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9808" y="4329684"/>
            <a:ext cx="5084064" cy="0"/>
          </a:xfrm>
          <a:prstGeom prst="line">
            <a:avLst/>
          </a:prstGeom>
          <a:noFill/>
          <a:ln w="9525">
            <a:solidFill>
              <a:srgbClr val="E3E5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4384548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 </a:t>
            </a:r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that looks live but does nothing is exactly where shoppers abandon carts or file “broken site” complaints.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986976" y="1792224"/>
            <a:ext cx="3948288" cy="373075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19" name="Image 1" descr="/home/claude/work/assets/cart_qty_annot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272" y="1874520"/>
            <a:ext cx="3783696" cy="35661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9525">
            <a:solidFill>
              <a:srgbClr val="E0A02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control's state visible — grey it out or swap it for the trash icon once quantity reaches one. And when an action can't complete, say so: even a one-line tooltip turns a dead click into a resolved one.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7233B"/>
          </a:solidFill>
          <a:ln/>
        </p:spPr>
      </p:sp>
      <p:pic>
        <p:nvPicPr>
          <p:cNvPr id="3" name="Image 0" descr="/home/claude/work/assets/icon_file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84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36192" y="731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Rather Than Recall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43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people need visible in the moment — don't make them recall it from an earlier screen.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020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709928" y="20025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vs. Cart page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A0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350008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warranty terms aren't shown on the product page or the cart page — the two places a shopper is actually deciding. The only path is a footer link, and the footer itself doesn't exist on the cart page at all.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5F6F8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8953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709928" y="387705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Policy page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80560" y="3886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4224528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 that actually answers “can I return this?” sits below several paragraphs repeating the same boilerplate sentence without adding new information.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378362" y="2061972"/>
            <a:ext cx="31655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— the only way to reach the return policy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96066" y="2290572"/>
            <a:ext cx="3330108" cy="3044952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27000" dist="38100" dir="5400000">
              <a:srgbClr val="1B2233">
                <a:alpha val="18000"/>
              </a:srgbClr>
            </a:outerShdw>
          </a:effectLst>
        </p:spPr>
      </p:sp>
      <p:pic>
        <p:nvPicPr>
          <p:cNvPr id="23" name="Image 1" descr="/home/claude/work/assets/footer_help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62" y="2372868"/>
            <a:ext cx="3165516" cy="288036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BEEDA"/>
          </a:solidFill>
          <a:ln w="9525">
            <a:solidFill>
              <a:srgbClr val="E0A02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3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 short return/warranty summary directly on the product page. Keep the footer consistent across cart and product pages, and move the eligibility table above the repeated intro text.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issues across 6 heuristics — logged the way the workbook asks: principle, location, and priority.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5029200"/>
                <a:gridCol w="22860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of System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redirect has no loading feedback (15–20s); checkout progress bar too faint to notice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→ Payment/Delivery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Between System &amp; Real World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banner precedes products on Home/category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category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Between System &amp; Real World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fee mislabeled “Convenience fee,” shown 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→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and 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product-comparison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listing/detail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and 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“Add to cart” locks to “Go to cart,” blocking re-add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detail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Control and Freedom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Login/address required just to check delivery fee; no “Buy Now” shortcut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→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Prevention &amp; Recovery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“−” control silently fails at Qty = 1, with no fallback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Rather Than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Return/warranty info absent from product &amp; cart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Cart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Rather Than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ineligible for return/refund, undisclosed pre-purchase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Policy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DECATHLON.IN — HEURISTIC EVALUATION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0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Move the Needle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1E2C48"/>
          </a:solidFill>
          <a:ln w="12700">
            <a:solidFill>
              <a:srgbClr val="3342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in 2 Weeks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roadmap needed — copy, style, and small front-end fixes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624328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49631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“Convenience fee” to “Delivery fee”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311810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Restyle the checkout progress bar for real contrast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67912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73989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one-line return/refund disclosure on cycle &amp; bulky-item pages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489704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36168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loading spinner for the payment redirect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1E2C48"/>
          </a:solidFill>
          <a:ln w="12700">
            <a:solidFill>
              <a:srgbClr val="334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874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Product Decision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945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 — cross-team scope or structural change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624328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30568" y="2496312"/>
            <a:ext cx="43891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comparison across listings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121762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0568" y="2993746"/>
            <a:ext cx="43891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“add to cart” as a quantity stepper, not a one-way button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619195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30568" y="3491179"/>
            <a:ext cx="43891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Pincode-only delivery check before requiring login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116629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30568" y="3988613"/>
            <a:ext cx="43891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qty “−” control's silent failure at Qty =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614062"/>
            <a:ext cx="146304" cy="146304"/>
          </a:xfrm>
          <a:prstGeom prst="ellipse">
            <a:avLst/>
          </a:prstGeom>
          <a:solidFill>
            <a:srgbClr val="E0A0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30568" y="4486046"/>
            <a:ext cx="43891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Reordered templates: products before promos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86400"/>
            <a:ext cx="10927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Decathlon.in's ten usability heuristics surfaced friction somewhere in a single purchase — most of it fixable without a redesign, just a more honest default: show the cost, the policy, and the state of the system before the shopper has to go looking for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2026-09-19T13:28:40Z</dcterms:created>
  <dcterms:modified xsi:type="dcterms:W3CDTF">2026-09-19T13:28:40Z</dcterms:modified>
</cp:coreProperties>
</file>