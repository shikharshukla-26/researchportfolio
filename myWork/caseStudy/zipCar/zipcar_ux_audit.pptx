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02875" y="251460"/>
            <a:ext cx="1508760" cy="1508760"/>
          </a:xfrm>
          <a:prstGeom prst="ellipse">
            <a:avLst/>
          </a:prstGeom>
          <a:solidFill>
            <a:srgbClr val="55A646"/>
          </a:solidFill>
          <a:ln/>
        </p:spPr>
      </p:sp>
      <p:sp>
        <p:nvSpPr>
          <p:cNvPr id="3" name="Text 1"/>
          <p:cNvSpPr/>
          <p:nvPr/>
        </p:nvSpPr>
        <p:spPr>
          <a:xfrm>
            <a:off x="10202875" y="210312"/>
            <a:ext cx="1508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</a:t>
            </a:r>
            <a:endParaRPr lang="en-US" sz="5100" dirty="0"/>
          </a:p>
        </p:txBody>
      </p:sp>
      <p:sp>
        <p:nvSpPr>
          <p:cNvPr id="4" name="Shape 2"/>
          <p:cNvSpPr/>
          <p:nvPr/>
        </p:nvSpPr>
        <p:spPr>
          <a:xfrm>
            <a:off x="11152708" y="145161"/>
            <a:ext cx="438912" cy="438912"/>
          </a:xfrm>
          <a:prstGeom prst="ellipse">
            <a:avLst/>
          </a:prstGeom>
          <a:solidFill>
            <a:srgbClr val="F8CC1E"/>
          </a:solidFill>
          <a:ln/>
        </p:spPr>
      </p:sp>
      <p:sp>
        <p:nvSpPr>
          <p:cNvPr id="5" name="Shape 3"/>
          <p:cNvSpPr/>
          <p:nvPr/>
        </p:nvSpPr>
        <p:spPr>
          <a:xfrm>
            <a:off x="10089718" y="1269873"/>
            <a:ext cx="301752" cy="30175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716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 EXPLORATORY WALKTHROUGH · FTUE AUDIT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10241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Zipcar First-Time Experience Audit:</a:t>
            </a:r>
            <a:endParaRPr lang="en-US" sz="32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 Testable Friction Points Before Booking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outside, self-run look at zipcar.com's first-time booking experience — with two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points that look cheap to validate with real users.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4846320"/>
            <a:ext cx="457200" cy="54864"/>
          </a:xfrm>
          <a:prstGeom prst="rect">
            <a:avLst/>
          </a:prstGeom>
          <a:solidFill>
            <a:srgbClr val="F8CC1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527608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Shikhar Shukla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22960" y="5715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FTUE walkthrough &amp; heuristic evaluation · Evidence: N=1 self-observation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822960" y="601675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UX / behavioral researcher studying how interface conditions shape user interpretation and behavior.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95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found two high-priority first-time-experience risks on Zipcar's homepage.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40080" y="1298448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self-run exploratory walkthrough, I initially misread the service category, and couldn't tell whether an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edited search had been applied. Neither is a validated finding — both looked inexpensive to test with real users.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822960" cy="868680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91640" y="2176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Category clarity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691640" y="24963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Clarify “car sharing” before the booking widget loads.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0" y="217627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first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0515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C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063240"/>
            <a:ext cx="822960" cy="868680"/>
          </a:xfrm>
          <a:prstGeom prst="rect">
            <a:avLst/>
          </a:prstGeom>
          <a:solidFill>
            <a:srgbClr val="55A64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632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691640" y="3182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Search feedback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91640" y="350215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whether changed dates/times are pending or applied.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21040" y="3182112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i="1" dirty="0">
                <a:solidFill>
                  <a:srgbClr val="55A6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next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0515600" cy="777240"/>
          </a:xfrm>
          <a:prstGeom prst="rect">
            <a:avLst/>
          </a:prstGeom>
          <a:solidFill>
            <a:srgbClr val="E9F3E4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2793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" y="4526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5-user comprehension + task test on both, compared against homepage → search conversion analytics.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40080" y="51663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N=1, self-run walkthrough and heuristic pass across two homepage visits. This surfaces testable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 — not statistically validated findings. Full detail in the appendix.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01 · P0 — VALIDATE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service category isn't clear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for several seconds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" cy="237744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810512"/>
            <a:ext cx="5760720" cy="699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seconds on the homepage I read Zipcar as a used-car marketplace. The hero</a:t>
            </a:r>
            <a:endParaRPr lang="en-US" sz="103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instantly; the booking form (pick-up/return fields) loaded 2–3 seconds later. My</a:t>
            </a:r>
            <a:endParaRPr lang="en-US" sz="103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shifted again mid-load: “taxi site” at “pick up,” then “car rental” once “return” appeared.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548640" y="2656332"/>
            <a:ext cx="54864" cy="237744"/>
          </a:xfrm>
          <a:prstGeom prst="rect">
            <a:avLst/>
          </a:prstGeom>
          <a:solidFill>
            <a:srgbClr val="8A6A1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6380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912364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viewport alone didn't establish the car-sharing model for me — that only</a:t>
            </a:r>
            <a:endParaRPr lang="en-US" sz="103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once the delayed booking form finished loading and I read its fields.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3570732"/>
            <a:ext cx="54864" cy="237744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5524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untested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826764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Stating the model explicitly and immediately (e.g. a static line: “Book a car by the hour</a:t>
            </a:r>
            <a:endParaRPr lang="en-US" sz="103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day”) may shorten this comprehension delay for other first-time visitors.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6565392" y="1536192"/>
            <a:ext cx="4974336" cy="227685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4" name="Image 0" descr="/home/claude/zipcar_ppt/images/hero_loa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0200"/>
            <a:ext cx="4846320" cy="214884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8862365" y="1941957"/>
            <a:ext cx="283464" cy="283464"/>
          </a:xfrm>
          <a:prstGeom prst="ellipse">
            <a:avLst/>
          </a:prstGeom>
          <a:solidFill>
            <a:srgbClr val="F8CC1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862365" y="1928241"/>
            <a:ext cx="2834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214616" y="2500655"/>
            <a:ext cx="283464" cy="283464"/>
          </a:xfrm>
          <a:prstGeom prst="ellipse">
            <a:avLst/>
          </a:prstGeom>
          <a:solidFill>
            <a:srgbClr val="F8CC1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214616" y="2486939"/>
            <a:ext cx="2834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565392" y="395020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placeholder — the one element that resolves category ambiguity     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already visible reads as generic, not category-specific     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02 · P1 — VALIDATE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5760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Editing the form gives no signal</a:t>
            </a:r>
            <a:endParaRPr lang="en-US" sz="19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9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that anything happened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" cy="237744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53619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810512"/>
            <a:ext cx="5760720" cy="6995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changing the return time three times, results didn't update. Each time I paused</a:t>
            </a:r>
            <a:endParaRPr lang="en-US" sz="103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seconds expecting an automatic refresh, then had to locate and click “Search” on the</a:t>
            </a:r>
            <a:endParaRPr lang="en-US" sz="103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right before seeing updated results.</a:t>
            </a:r>
            <a:endParaRPr lang="en-US" sz="1030" dirty="0"/>
          </a:p>
        </p:txBody>
      </p:sp>
      <p:sp>
        <p:nvSpPr>
          <p:cNvPr id="7" name="Shape 5"/>
          <p:cNvSpPr/>
          <p:nvPr/>
        </p:nvSpPr>
        <p:spPr>
          <a:xfrm>
            <a:off x="548640" y="2656332"/>
            <a:ext cx="54864" cy="237744"/>
          </a:xfrm>
          <a:prstGeom prst="rect">
            <a:avLst/>
          </a:prstGeom>
          <a:solidFill>
            <a:srgbClr val="8A6A10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26380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3232" y="2912364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no visible state change after editing a field, I assumed the system hadn't</a:t>
            </a:r>
            <a:endParaRPr lang="en-US" sz="103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my change — not that a manual step was simply required.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3570732"/>
            <a:ext cx="54864" cy="237744"/>
          </a:xfrm>
          <a:prstGeom prst="rect">
            <a:avLst/>
          </a:prstGeom>
          <a:solidFill>
            <a:srgbClr val="2F5B26"/>
          </a:solidFill>
          <a:ln/>
        </p:spPr>
      </p:sp>
      <p:sp>
        <p:nvSpPr>
          <p:cNvPr id="11" name="Text 9"/>
          <p:cNvSpPr/>
          <p:nvPr/>
        </p:nvSpPr>
        <p:spPr>
          <a:xfrm>
            <a:off x="713232" y="3552444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— untested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3232" y="3826764"/>
            <a:ext cx="57607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signal tied to the moment of change (not only the Search button's location) may</a:t>
            </a:r>
            <a:endParaRPr lang="en-US" sz="103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3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this faster than either full auto-refresh or the current silent state.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48640" y="4466844"/>
            <a:ext cx="5760720" cy="868680"/>
          </a:xfrm>
          <a:prstGeom prst="rect">
            <a:avLst/>
          </a:prstGeom>
          <a:solidFill>
            <a:srgbClr val="FDF3D2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4549140"/>
            <a:ext cx="54406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50"/>
              </a:lnSpc>
              <a:buNone/>
            </a:pPr>
            <a:r>
              <a:rPr lang="en-US" sz="97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own reasoning: a manual click isn't inherently wrong — refreshing on every edit could</a:t>
            </a:r>
            <a:endParaRPr lang="en-US" sz="97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7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irritating. The right call likely depends on how often people edit the form after</a:t>
            </a:r>
            <a:endParaRPr lang="en-US" sz="970" dirty="0"/>
          </a:p>
          <a:p>
            <a:pPr indent="0" marL="0">
              <a:lnSpc>
                <a:spcPts val="1250"/>
              </a:lnSpc>
              <a:buNone/>
            </a:pPr>
            <a:r>
              <a:rPr lang="en-US" sz="97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landing, which I don't have data on. See the Validation Plan for the options this suggests.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6565392" y="1536192"/>
            <a:ext cx="4974336" cy="255117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7D6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pic>
        <p:nvPicPr>
          <p:cNvPr id="16" name="Image 0" descr="/home/claude/zipcar_ppt/images/search_fu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600200"/>
            <a:ext cx="4846320" cy="24231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10994746" y="2258111"/>
            <a:ext cx="283464" cy="283464"/>
          </a:xfrm>
          <a:prstGeom prst="ellipse">
            <a:avLst/>
          </a:prstGeom>
          <a:solidFill>
            <a:srgbClr val="F8CC1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10994746" y="2244395"/>
            <a:ext cx="2834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9880092" y="2270227"/>
            <a:ext cx="283464" cy="283464"/>
          </a:xfrm>
          <a:prstGeom prst="ellipse">
            <a:avLst/>
          </a:prstGeom>
          <a:solidFill>
            <a:srgbClr val="F8CC1E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38100" dist="12700" dir="540000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9880092" y="2256511"/>
            <a:ext cx="283464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65392" y="422452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button — the only place a click is actually required     </a:t>
            </a:r>
            <a:pPr indent="0" marL="0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/ time fields — changed here with no visible response     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OBSERVATIONS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more findings — lower confidence or smaller likely effect</a:t>
            </a:r>
            <a:endParaRPr lang="en-US" sz="2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5156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566160"/>
                <a:gridCol w="3840480"/>
                <a:gridCol w="1554480"/>
              </a:tblGrid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Hypothesis — untested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hierarchy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“Join now” sits at nearly the same value as the hero background; I only noticed the white-background Search button unprompted.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CTA using a color the background doesn't already own (Zipcar's own gold) may be noticed more reliably.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P1 — Validate next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behavior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Panning the map toward a different address made previously visible pins disappear until I re-searched.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Fetching pins for the visible map area as it's panned — not only the last search — may reduce false “no cars here” impressions.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Explore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label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“Gas ~40%” appears with no plain-language explanation of what it means or who pays.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Regular car-share users likely already read this like a phone battery level — the real gap is Zipcar's fuel policy (free, via an included card), unfamiliar to people new to car-sharing.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 — Explore later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3212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Compressed here because my confidence is lower (map) or the likely effect is smaller (CTA, gas label) than the two</a:t>
            </a:r>
            <a:endParaRPr lang="en-US" sz="10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findings — not because they aren't real. Priority reflects validation urgency, not engineering priority.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 &amp; WHAT TO MEASURE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 can't prove these effects from one walkthrough — here's what I'd measure to find out</a:t>
            </a:r>
            <a:endParaRPr lang="en-US" sz="2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206240"/>
                <a:gridCol w="3566160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UX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question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to watch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clarity delay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first-visit comprehension affect homepage → search conversion?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Homepage → search conversion; 5-second comprehension test success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search-change feedback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 visitors retry, abandon, or submit stale searches?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abandonment; date/time edits per session; search retries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hierarchy is weak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it reduce sign-up or booking engagement?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Sign-up click-through rate from homepage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 pins disappear on pan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Might visitors incorrectly conclude no cars are available?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Map-pan → re-search rate; “no cars” impressions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label unclear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this create hesitation or support questions?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Fuel-related support contact rate; drop-off at car-detail step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VALIDATION PLAN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Options to test, not a verdict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Category Clarity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4160520" y="14356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TO TEST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48640" y="2093976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Static sub-headline (“Book a car by the hour or day”)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Skeleton screen instead of a blank pill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Category-specific hero imagery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5074920" cy="1691640"/>
          </a:xfrm>
          <a:prstGeom prst="rect">
            <a:avLst/>
          </a:prstGeom>
          <a:solidFill>
            <a:srgbClr val="E9F3E4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345643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3675888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Can first-time visitors correctly identify Zipcar's service within 5 seconds?</a:t>
            </a: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8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Show homepage 5s, hide it, ask “What do you think this company does?”</a:t>
            </a: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8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Identifies car-sharing / hourly-or-daily rental unprompted, 4-5 of 5 users.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263640" y="141732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Search Feedback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875520" y="14356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b="1" i="1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63640" y="1874520"/>
            <a:ext cx="5074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APPROACHES TO TEST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63640" y="2093976"/>
            <a:ext cx="50749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Visual “ready to update” state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Debounced auto-refresh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Keep explicit Search, but glow/flag it the moment an input changes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3337560"/>
            <a:ext cx="5074920" cy="1691640"/>
          </a:xfrm>
          <a:prstGeom prst="rect">
            <a:avLst/>
          </a:prstGeom>
          <a:solidFill>
            <a:srgbClr val="E9F3E4"/>
          </a:solidFill>
          <a:ln/>
        </p:spPr>
      </p:sp>
      <p:sp>
        <p:nvSpPr>
          <p:cNvPr id="16" name="Text 14"/>
          <p:cNvSpPr/>
          <p:nvPr/>
        </p:nvSpPr>
        <p:spPr>
          <a:xfrm>
            <a:off x="6428232" y="3456432"/>
            <a:ext cx="4754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428232" y="3675888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98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question: Do people know whether on-screen results reflect their latest change?</a:t>
            </a: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8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After changing return time, ask “Are these results up to date with what you just changed?”</a:t>
            </a: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endParaRPr lang="en-US" sz="980" dirty="0"/>
          </a:p>
          <a:p>
            <a:pPr indent="0" marL="0">
              <a:lnSpc>
                <a:spcPts val="1350"/>
              </a:lnSpc>
              <a:buNone/>
            </a:pPr>
            <a:r>
              <a:rPr lang="en-US" sz="98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Success: Correctly states current/not current, and can point to what told them so.</a:t>
            </a:r>
            <a:endParaRPr lang="en-US" sz="980" dirty="0"/>
          </a:p>
        </p:txBody>
      </p:sp>
      <p:sp>
        <p:nvSpPr>
          <p:cNvPr id="18" name="Text 16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5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0639" y="512064"/>
            <a:ext cx="804672" cy="804672"/>
          </a:xfrm>
          <a:prstGeom prst="ellipse">
            <a:avLst/>
          </a:prstGeom>
          <a:solidFill>
            <a:srgbClr val="F8CC1E"/>
          </a:solidFill>
          <a:ln/>
        </p:spPr>
      </p:sp>
      <p:sp>
        <p:nvSpPr>
          <p:cNvPr id="3" name="Text 1"/>
          <p:cNvSpPr/>
          <p:nvPr/>
        </p:nvSpPr>
        <p:spPr>
          <a:xfrm>
            <a:off x="10600639" y="490118"/>
            <a:ext cx="804672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20" b="1" dirty="0">
                <a:solidFill>
                  <a:srgbClr val="1E3A1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</a:t>
            </a:r>
            <a:endParaRPr lang="en-US" sz="2720" dirty="0"/>
          </a:p>
        </p:txBody>
      </p:sp>
      <p:sp>
        <p:nvSpPr>
          <p:cNvPr id="4" name="Shape 2"/>
          <p:cNvSpPr/>
          <p:nvPr/>
        </p:nvSpPr>
        <p:spPr>
          <a:xfrm>
            <a:off x="11107217" y="455371"/>
            <a:ext cx="234086" cy="23408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540289" y="1055218"/>
            <a:ext cx="160934" cy="16093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F0E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DO NEXT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If I joined the team tomorrow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C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25880" y="1307592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Validate product-category comprehension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8366760" y="13441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20" i="1" dirty="0">
                <a:solidFill>
                  <a:srgbClr val="F8C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· easy to test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1792224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C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P1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1819656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Validate search-state expectations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366760" y="1856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20" i="1" dirty="0">
                <a:solidFill>
                  <a:srgbClr val="F8C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impact · easy to test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>
            <a:off x="548640" y="2304288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C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23317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Investigate map exploration with real users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66760" y="2368296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20" i="1" dirty="0">
                <a:solidFill>
                  <a:srgbClr val="F8C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confidence · higher effort</a:t>
            </a: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548640" y="2816352"/>
            <a:ext cx="685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8CC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25880" y="2843784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Test gas-label comprehension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366760" y="28803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20" i="1" dirty="0">
                <a:solidFill>
                  <a:srgbClr val="F8C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impact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48640" y="3465576"/>
            <a:ext cx="10881360" cy="1417320"/>
          </a:xfrm>
          <a:prstGeom prst="rect">
            <a:avLst/>
          </a:prstGeom>
          <a:solidFill>
            <a:srgbClr val="24491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60273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8CC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22960" y="3858768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Zipcar doesn't necessarily need more information on the first screen. It needs the existing</a:t>
            </a:r>
            <a:endParaRPr lang="en-US" sz="13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information to become understandable sooner.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4407408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BFD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Shikhar Shukla · Questions, or want the full walkthrough recording? Happy to share — no strings attached.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A · METHOD &amp; JOURNEY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How the walkthrough was run, and where it went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participant — me — across two homepage runs (a first-time run and a repeat run), plus a self-run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pass. Think-aloud narration and screen-by-screen recording throughout. No other participants</a:t>
            </a:r>
            <a:endParaRPr lang="en-US" sz="115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recruited.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640080" y="2880360"/>
            <a:ext cx="1186434" cy="1234440"/>
          </a:xfrm>
          <a:prstGeom prst="roundRect">
            <a:avLst>
              <a:gd name="adj" fmla="val 6166"/>
            </a:avLst>
          </a:prstGeom>
          <a:solidFill>
            <a:srgbClr val="FFFFFF"/>
          </a:solidFill>
          <a:ln w="12700">
            <a:solidFill>
              <a:srgbClr val="CFE0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3227832"/>
            <a:ext cx="1094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6514" y="32689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972818" y="2880360"/>
            <a:ext cx="1186434" cy="1234440"/>
          </a:xfrm>
          <a:prstGeom prst="roundRect">
            <a:avLst>
              <a:gd name="adj" fmla="val 6166"/>
            </a:avLst>
          </a:prstGeom>
          <a:solidFill>
            <a:srgbClr val="E9F3E4"/>
          </a:solidFill>
          <a:ln w="12700">
            <a:solidFill>
              <a:srgbClr val="CFE0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36826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8538" y="3227832"/>
            <a:ext cx="1094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59252" y="32689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305556" y="2880360"/>
            <a:ext cx="1186434" cy="1234440"/>
          </a:xfrm>
          <a:prstGeom prst="roundRect">
            <a:avLst>
              <a:gd name="adj" fmla="val 6166"/>
            </a:avLst>
          </a:prstGeom>
          <a:solidFill>
            <a:srgbClr val="FFFFFF"/>
          </a:solidFill>
          <a:ln w="12700">
            <a:solidFill>
              <a:srgbClr val="CFE0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69564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1276" y="3227832"/>
            <a:ext cx="1094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91990" y="32689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38294" y="2880360"/>
            <a:ext cx="1186434" cy="1234440"/>
          </a:xfrm>
          <a:prstGeom prst="roundRect">
            <a:avLst>
              <a:gd name="adj" fmla="val 6166"/>
            </a:avLst>
          </a:prstGeom>
          <a:solidFill>
            <a:srgbClr val="E9F3E4"/>
          </a:solidFill>
          <a:ln w="12700">
            <a:solidFill>
              <a:srgbClr val="CFE0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2302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84014" y="3227832"/>
            <a:ext cx="1094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24728" y="32689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971032" y="2880360"/>
            <a:ext cx="1186434" cy="1234440"/>
          </a:xfrm>
          <a:prstGeom prst="roundRect">
            <a:avLst>
              <a:gd name="adj" fmla="val 6166"/>
            </a:avLst>
          </a:prstGeom>
          <a:solidFill>
            <a:srgbClr val="FFFFFF"/>
          </a:solidFill>
          <a:ln w="12700">
            <a:solidFill>
              <a:srgbClr val="CFE0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16752" y="3227832"/>
            <a:ext cx="1094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7466" y="32689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7303770" y="2880360"/>
            <a:ext cx="1186434" cy="1234440"/>
          </a:xfrm>
          <a:prstGeom prst="roundRect">
            <a:avLst>
              <a:gd name="adj" fmla="val 6166"/>
            </a:avLst>
          </a:prstGeom>
          <a:solidFill>
            <a:srgbClr val="E9F3E4"/>
          </a:solidFill>
          <a:ln w="12700">
            <a:solidFill>
              <a:srgbClr val="CFE0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67778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49490" y="3227832"/>
            <a:ext cx="1094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490204" y="32689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636508" y="2880360"/>
            <a:ext cx="1186434" cy="1234440"/>
          </a:xfrm>
          <a:prstGeom prst="roundRect">
            <a:avLst>
              <a:gd name="adj" fmla="val 6166"/>
            </a:avLst>
          </a:prstGeom>
          <a:solidFill>
            <a:srgbClr val="FFFFFF"/>
          </a:solidFill>
          <a:ln w="12700">
            <a:solidFill>
              <a:srgbClr val="CFE0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00516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5B2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682228" y="3227832"/>
            <a:ext cx="1094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822942" y="326898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9969246" y="2880360"/>
            <a:ext cx="1186434" cy="1234440"/>
          </a:xfrm>
          <a:prstGeom prst="roundRect">
            <a:avLst>
              <a:gd name="adj" fmla="val 6166"/>
            </a:avLst>
          </a:prstGeom>
          <a:solidFill>
            <a:srgbClr val="FDF3D2"/>
          </a:solidFill>
          <a:ln w="19050">
            <a:solidFill>
              <a:srgbClr val="F8CC1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033254" y="2926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1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014966" y="3227832"/>
            <a:ext cx="1094994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</a:t>
            </a:r>
            <a:endParaRPr lang="en-US" sz="10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in this deck sits on one of these eight steps — most of them before step 4.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0080" y="5029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rule: wherever this deck says “may” or “hypothesis”, that's a conjecture from one person's walkthrough —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measured result. Nothing here should drive a roadmap decision without testing with real, multiple users.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· HEURISTIC EVALUATION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3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Nielsen-style pass over what I actually saw</a:t>
            </a:r>
            <a:endParaRPr lang="en-US" sz="2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515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400800"/>
                <a:gridCol w="1371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 (from this walkthrough)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of system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widget shows a loading spinner while the rest of the hero has already rendered.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Visibility of system 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changing pick-up/return date or time, nothing indicates whether the new query applied.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between system &amp; real world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“Gas ~40%” appears with no plain-language explanation of what it means.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Low–Med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Consistency &amp; 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(“Join now”) and secondary CTAs render in close to the same green as the background.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control &amp; freedom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Panning the map hides previously visible car pins without explaining why.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Med–High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343400"/>
            <a:ext cx="5074920" cy="1234440"/>
          </a:xfrm>
          <a:prstGeom prst="rect">
            <a:avLst/>
          </a:prstGeom>
          <a:solidFill>
            <a:srgbClr val="E9F3E4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4622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22960" y="47091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informal reference point: my first impression matched Spinny (a used-car marketplace) — not a structured competitive comparison. No other competitors were reviewed.</a:t>
            </a:r>
            <a:endParaRPr lang="en-US" sz="1030" dirty="0"/>
          </a:p>
        </p:txBody>
      </p:sp>
      <p:sp>
        <p:nvSpPr>
          <p:cNvPr id="8" name="Shape 5"/>
          <p:cNvSpPr/>
          <p:nvPr/>
        </p:nvSpPr>
        <p:spPr>
          <a:xfrm>
            <a:off x="5989320" y="4343400"/>
            <a:ext cx="5074920" cy="1234440"/>
          </a:xfrm>
          <a:prstGeom prst="rect">
            <a:avLst/>
          </a:prstGeom>
          <a:solidFill>
            <a:srgbClr val="FDF3D2"/>
          </a:solidFill>
          <a:ln/>
        </p:spPr>
      </p:sp>
      <p:sp>
        <p:nvSpPr>
          <p:cNvPr id="9" name="Text 6"/>
          <p:cNvSpPr/>
          <p:nvPr/>
        </p:nvSpPr>
        <p:spPr>
          <a:xfrm>
            <a:off x="6172200" y="446227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6A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WORKS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72200" y="47091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i="1" dirty="0">
                <a:solidFill>
                  <a:srgbClr val="1D24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half-cut mobile visual in “How Zipcar Works” broke my banner-blindness and got me reading all four steps — worth keeping and extending, not just fixing what's broken.</a:t>
            </a:r>
            <a:endParaRPr lang="en-US" sz="1030" dirty="0"/>
          </a:p>
        </p:txBody>
      </p:sp>
      <p:sp>
        <p:nvSpPr>
          <p:cNvPr id="11" name="Text 8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2F5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C · EXTERNAL CORROBORATION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1D2417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Checking my own reaction against public reviews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8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ran a small number of my own searches (Trustpilot, general web search) rather than relying on unverified</a:t>
            </a:r>
            <a:endParaRPr lang="en-US" sz="108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8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secondhand claims. This is signal extraction from a handful of reviews, not a prevalence estimate.</a:t>
            </a:r>
            <a:endParaRPr lang="en-US" sz="108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10515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My observation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External signal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B2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clarity (P0)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direct match found for “misread as used-car marketplace” — that stays unique to this walkthrough. A UK Zipcar marketing case study documents a broader category-awareness problem, but that's a different market and entity from the zipcar.com site audited here.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independently corroborated for this product — pattern exists elsewhere, not proof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feedback (P1)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verified Trustpilot review of zipcar.com describes the app and filters as “confusing” and inconsistent — adjacent to, but not a precise match for, the specific no-feedback-after-editing behavior I observed.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Adjacent signal, not a direct match — still needs testing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Gas label (P2)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Trustpilot reviews (US and UK) describe real frustration with fuel cards — mostly missing or non-functional physical cards and billing disputes, not the on-screen “Gas ~40%” label itself.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 pain point confirmed; my specific label-clarity finding is not directly confirmed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CTA hierarchy, Map behavior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verifiable public complaints found for either in the sources I checked.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D24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external signal found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3E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617220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3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review signal is dominated by post-booking problems (billing, vehicle condition); this audit focuses on</a:t>
            </a:r>
            <a:endParaRPr lang="en-US" sz="103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30" i="1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pre-booking behavior. External evidence increases the case for testing — it does not validate the mechanism.</a:t>
            </a:r>
            <a:endParaRPr lang="en-US" sz="103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2026-09-14T09:47:04Z</dcterms:created>
  <dcterms:modified xsi:type="dcterms:W3CDTF">2026-09-14T09:47:04Z</dcterms:modified>
</cp:coreProperties>
</file>